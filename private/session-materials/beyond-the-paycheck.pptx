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7" r:id="rId3"/>
    <p:sldId id="271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72" r:id="rId12"/>
    <p:sldId id="265" r:id="rId13"/>
    <p:sldId id="27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23DCE-57C1-48CD-9C13-C4B41CC70D2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2B059-5125-42E9-8C0D-73CE763F9F7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139" y="0"/>
            <a:ext cx="10996246" cy="2271030"/>
          </a:xfrm>
        </p:spPr>
        <p:txBody>
          <a:bodyPr/>
          <a:lstStyle/>
          <a:p>
            <a:pPr algn="ctr"/>
            <a:r>
              <a:rPr lang="en-US" sz="6600" b="1" dirty="0">
                <a:latin typeface="Gill Sans MT" panose="020B0502020104020203" pitchFamily="34" charset="0"/>
              </a:rPr>
              <a:t>BEYOND THE PAYCHECK </a:t>
            </a:r>
            <a:endParaRPr lang="en-US" sz="6600" b="1" dirty="0">
              <a:latin typeface="Gill Sans MT" panose="020B05020201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430" y="4839517"/>
            <a:ext cx="8144134" cy="11176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Build Valuable Skills, Increase Your Earning Power, and Create Financial Options Early in Your Career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DOES “BEYOND THE PAYCHECK” MEAN?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 b="1"/>
            </a:pPr>
            <a:r>
              <a:rPr dirty="0"/>
              <a:t>It means building a future that is bigger than your monthly salary.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Develop skills that make you more valuable and adaptable.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Use your expertise to solve meaningful problems and increase your earning potential.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Build career capital: experience, relationships, credibility, and a track record of results.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Create options through learning, side projects, entrepreneurship, leadership, and networks.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Manage money intentionally through saving, budgeting, and informed long-term investing.</a:t>
            </a:r>
            <a:endParaRPr dirty="0"/>
          </a:p>
          <a:p>
            <a:pPr>
              <a:spcBef>
                <a:spcPts val="800"/>
              </a:spcBef>
              <a:defRPr sz="1700" b="1"/>
            </a:pPr>
            <a:r>
              <a:rPr dirty="0"/>
              <a:t>The goal is not simply to earn more; it is to build more choices, resilience, and freedom over time.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074" y="108990"/>
            <a:ext cx="11605847" cy="108093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Gill Sans MT" panose="020B0502020104020203" pitchFamily="34" charset="0"/>
              </a:rPr>
              <a:t>AGENDA</a:t>
            </a:r>
            <a:endParaRPr lang="en-US" sz="54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1765" y="1926590"/>
            <a:ext cx="9348470" cy="39947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cs typeface="Times New Roman" panose="02020603050405020304" pitchFamily="18" charset="0"/>
              </a:rPr>
              <a:t>The Fundamental Principle</a:t>
            </a:r>
            <a:endParaRPr lang="en-US" sz="1800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cs typeface="Times New Roman" panose="02020603050405020304" pitchFamily="18" charset="0"/>
              </a:rPr>
              <a:t>The Five Pillars 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a) Building Valuable Skills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b) Increasing Your Earning Power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c) Building Career Capital 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d) Creating Career Options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cs typeface="Times New Roman" panose="02020603050405020304" pitchFamily="18" charset="0"/>
              </a:rPr>
              <a:t>	e) Positioning For The Future</a:t>
            </a:r>
            <a:endParaRPr lang="en-US" sz="1800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altLang="en-US" sz="1800" b="1" dirty="0">
                <a:cs typeface="Times New Roman" panose="02020603050405020304" pitchFamily="18" charset="0"/>
              </a:rPr>
              <a:t>Bonus - </a:t>
            </a:r>
            <a:r>
              <a:rPr lang="en-US" sz="1800" b="1" dirty="0">
                <a:cs typeface="Times New Roman" panose="02020603050405020304" pitchFamily="18" charset="0"/>
              </a:rPr>
              <a:t>Managing Finances</a:t>
            </a:r>
            <a:endParaRPr lang="en-US" sz="1800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cs typeface="Times New Roman" panose="02020603050405020304" pitchFamily="18" charset="0"/>
              </a:rPr>
              <a:t>Q&amp;A  &amp;  Recap</a:t>
            </a:r>
            <a:endParaRPr lang="en-US" sz="18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Building Valuable Skills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133" y="2015615"/>
            <a:ext cx="6466067" cy="4595446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Skill-building starts with a growth mindset and consistent habits, not talent alone. Focus on building systems that make valuable skill acquisition a daily practice.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Master human centered skills. Technical skills open doors, but interpersonal and cognitive skills accelerate careers. High-leverage skills such as: Communication, </a:t>
            </a:r>
            <a:r>
              <a:rPr lang="en-GB" altLang="en-US" dirty="0">
                <a:latin typeface="+mj-lt"/>
                <a:cs typeface="Times New Roman" panose="02020603050405020304" pitchFamily="18" charset="0"/>
              </a:rPr>
              <a:t>influencing, stakeholder management, problem solving, leadership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  <a:p>
            <a:r>
              <a:rPr lang="en-GB" altLang="en-US" dirty="0">
                <a:latin typeface="+mj-lt"/>
                <a:cs typeface="Times New Roman" panose="02020603050405020304" pitchFamily="18" charset="0"/>
                <a:sym typeface="+mn-ea"/>
              </a:rPr>
              <a:t>Find niche skills/knowledge/experience </a:t>
            </a:r>
            <a:endParaRPr lang="en-GB" altLang="en-US" dirty="0">
              <a:latin typeface="+mj-lt"/>
              <a:cs typeface="Times New Roman" panose="02020603050405020304" pitchFamily="18" charset="0"/>
            </a:endParaRPr>
          </a:p>
          <a:p>
            <a:r>
              <a:rPr lang="en-GB" altLang="en-US" dirty="0">
                <a:latin typeface="+mj-lt"/>
                <a:cs typeface="Times New Roman" panose="02020603050405020304" pitchFamily="18" charset="0"/>
              </a:rPr>
              <a:t>AI skills are becoming a gamechanger.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652" y="2771335"/>
            <a:ext cx="4858603" cy="3084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Increasing Your Earning Power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254" y="1702191"/>
            <a:ext cx="7971310" cy="4642338"/>
          </a:xfrm>
        </p:spPr>
        <p:txBody>
          <a:bodyPr>
            <a:normAutofit/>
          </a:bodyPr>
          <a:lstStyle/>
          <a:p>
            <a:r>
              <a:rPr lang="en-GB" altLang="en-US" dirty="0">
                <a:cs typeface="Times New Roman" panose="02020603050405020304" pitchFamily="18" charset="0"/>
              </a:rPr>
              <a:t>Remember, you are your own product. Invest in learning and developing yourself for your own product. Have a personal development plan, and work on it.</a:t>
            </a:r>
            <a:endParaRPr lang="en-GB" alt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Solve valuable problems. Start asking “what problems can I solve that others can’t?”. The harder and more valuable the problem, the higher your earning ceiling.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  <a:sym typeface="+mn-ea"/>
              </a:rPr>
              <a:t>Your expertise and experience are valuable assets. Document them, package them, and make them transferable. </a:t>
            </a:r>
            <a:r>
              <a:rPr lang="en-GB" altLang="en-US" dirty="0">
                <a:cs typeface="Times New Roman" panose="02020603050405020304" pitchFamily="18" charset="0"/>
                <a:sym typeface="+mn-ea"/>
              </a:rPr>
              <a:t>P</a:t>
            </a:r>
            <a:r>
              <a:rPr lang="en-US" dirty="0">
                <a:cs typeface="Times New Roman" panose="02020603050405020304" pitchFamily="18" charset="0"/>
                <a:sym typeface="+mn-ea"/>
              </a:rPr>
              <a:t>ackage them into something the market can buy (consulting, courses, advisory work, speaking). 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GB" altLang="en-US" b="1" dirty="0">
                <a:cs typeface="Times New Roman" panose="02020603050405020304" pitchFamily="18" charset="0"/>
              </a:rPr>
              <a:t>Positioning: A plot of land in Eko Atlatic is worth 1000x worth more than a plot of land in Ota.</a:t>
            </a:r>
            <a:endParaRPr lang="en-US" b="1" dirty="0"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1907" y="921768"/>
            <a:ext cx="3780094" cy="2116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Building Career Capital 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210" y="3803015"/>
            <a:ext cx="10069830" cy="138874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cs typeface="Times New Roman" panose="02020603050405020304" pitchFamily="18" charset="0"/>
              </a:rPr>
              <a:t>Systematically accumulate career capital so that opportunities start coming to you. Volunteer and ask for work beyond your job description</a:t>
            </a:r>
            <a:r>
              <a:rPr lang="en-GB" altLang="en-US" b="1" dirty="0">
                <a:cs typeface="Times New Roman" panose="02020603050405020304" pitchFamily="18" charset="0"/>
              </a:rPr>
              <a:t> to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GB" altLang="en-US" b="1" dirty="0">
                <a:cs typeface="Times New Roman" panose="02020603050405020304" pitchFamily="18" charset="0"/>
              </a:rPr>
              <a:t>accelerate accumulation of career capital. 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9810" y="2051050"/>
            <a:ext cx="2286000" cy="15544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800" dirty="0">
                <a:solidFill>
                  <a:schemeClr val="tx1"/>
                </a:solidFill>
              </a:rPr>
              <a:t>Skill </a:t>
            </a:r>
            <a:endParaRPr lang="en-GB" altLang="en-US" sz="2800" dirty="0">
              <a:solidFill>
                <a:schemeClr val="tx1"/>
              </a:solidFill>
            </a:endParaRPr>
          </a:p>
          <a:p>
            <a:pPr algn="ctr"/>
            <a:r>
              <a:rPr lang="en-GB" altLang="en-US" sz="2800" dirty="0">
                <a:solidFill>
                  <a:schemeClr val="tx1"/>
                </a:solidFill>
              </a:rPr>
              <a:t>Capital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26180" y="2051050"/>
            <a:ext cx="2286000" cy="15544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800">
                <a:solidFill>
                  <a:schemeClr val="tx1"/>
                </a:solidFill>
              </a:rPr>
              <a:t>Experience Capital</a:t>
            </a:r>
            <a:endParaRPr lang="en-GB" altLang="en-US" sz="28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32550" y="2051050"/>
            <a:ext cx="2286000" cy="15544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800">
                <a:solidFill>
                  <a:schemeClr val="tx1"/>
                </a:solidFill>
              </a:rPr>
              <a:t>Delivery Capital</a:t>
            </a:r>
            <a:endParaRPr lang="en-GB" altLang="en-US" sz="280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38920" y="2051050"/>
            <a:ext cx="2286000" cy="15544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800">
                <a:solidFill>
                  <a:schemeClr val="tx1"/>
                </a:solidFill>
              </a:rPr>
              <a:t>Relationship Capital</a:t>
            </a:r>
            <a:endParaRPr lang="en-GB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Creating Career Options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055495"/>
            <a:ext cx="7672070" cy="480250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dirty="0"/>
              <a:t>The key to creating career option is </a:t>
            </a:r>
            <a:r>
              <a:rPr lang="en-US" b="1" dirty="0"/>
              <a:t>prototyping –</a:t>
            </a:r>
            <a:r>
              <a:rPr lang="en-US" dirty="0"/>
              <a:t> run small, low-risk experiments to </a:t>
            </a:r>
            <a:r>
              <a:rPr lang="en-GB" altLang="en-US" dirty="0"/>
              <a:t>explore </a:t>
            </a:r>
            <a:r>
              <a:rPr lang="en-US" dirty="0"/>
              <a:t>different paths before committing</a:t>
            </a:r>
            <a:r>
              <a:rPr lang="en-GB" altLang="en-US" dirty="0"/>
              <a:t>.</a:t>
            </a:r>
            <a:r>
              <a:rPr lang="en-US" dirty="0"/>
              <a:t> </a:t>
            </a:r>
            <a:r>
              <a:rPr lang="en-GB" altLang="en-US" dirty="0"/>
              <a:t>For example: </a:t>
            </a:r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Consulting: define your zone of genius and offer fractional services. Start by freelancing or subcontracting for established consultants in your network</a:t>
            </a:r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Entrepreneurship: </a:t>
            </a:r>
            <a:r>
              <a:rPr lang="en-GB" altLang="en-US" dirty="0"/>
              <a:t>start</a:t>
            </a:r>
            <a:r>
              <a:rPr lang="en-US" dirty="0"/>
              <a:t> a side hustle as your testing ground. Start small to validate your ideas</a:t>
            </a:r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Networks: </a:t>
            </a:r>
            <a:r>
              <a:rPr lang="en-GB" altLang="en-US" dirty="0"/>
              <a:t>leverage your networks to identify and go after options </a:t>
            </a:r>
            <a:endParaRPr lang="en-GB" altLang="en-US" dirty="0"/>
          </a:p>
          <a:p>
            <a:pPr marL="0" indent="0">
              <a:buFont typeface="+mj-lt"/>
              <a:buNone/>
            </a:pPr>
            <a:endParaRPr lang="en-US" dirty="0"/>
          </a:p>
          <a:p>
            <a:pPr marL="0" indent="0" algn="r">
              <a:buFont typeface="+mj-lt"/>
              <a:buNone/>
            </a:pPr>
            <a:r>
              <a:rPr lang="en-GB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Remember, you are your own product. </a:t>
            </a:r>
            <a:endParaRPr lang="en-GB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415" y="3298825"/>
            <a:ext cx="3653155" cy="2431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781595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For The Future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853" y="1961532"/>
            <a:ext cx="10808294" cy="477129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The future doesn’t reward those who predict it best – it rewards those who build the capacity to adapt to it deliberately. Young Africans should ask themselves the question </a:t>
            </a:r>
            <a:r>
              <a:rPr lang="en-US" b="1" dirty="0">
                <a:cs typeface="Times New Roman" panose="02020603050405020304" pitchFamily="18" charset="0"/>
              </a:rPr>
              <a:t>what kind of professional should I become?</a:t>
            </a:r>
            <a:endParaRPr lang="en-US" b="1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Think in scenarios not linearly. Ask what are 3-4 very different ways this industry could look in 10 years? &amp; what skill will matter in all of them.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Compete on value creation. Look for unserved or under served needs in Africa markets. Redefine the problem you are solving.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Play the long game. Build relationships across generations and borders, not just peer networks.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Young Africans should understand both local context and global standards. Think globally.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Bonus Point - </a:t>
            </a:r>
            <a:r>
              <a:rPr lang="en-US" dirty="0"/>
              <a:t>MANAGING FINANCES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826" y="1853754"/>
            <a:ext cx="7354796" cy="4199727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Managing your finances is pivotal in  increasing your earning power. It starts with examining your financial habits and behaviour. 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Financial habits and behavioral patterns helps us stay on track and remain financially disciplined. These financial habits are: Saving, Budgeting &amp; Investing.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Sometimes, the problem is not that you need more money. The problem is that you need better structures for managing the money you already have.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GB" altLang="en-US" b="1" dirty="0">
                <a:cs typeface="Times New Roman" panose="02020603050405020304" pitchFamily="18" charset="0"/>
              </a:rPr>
              <a:t>2 golden rules</a:t>
            </a:r>
            <a:r>
              <a:rPr lang="en-GB" altLang="en-US" dirty="0">
                <a:cs typeface="Times New Roman" panose="02020603050405020304" pitchFamily="18" charset="0"/>
              </a:rPr>
              <a:t>: Save before you spend; and Compounding is the 8th wonder of the wold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0621" y="1973529"/>
            <a:ext cx="4581379" cy="2865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YOUR NEXT 30 DAYS: TURN IDEAS INTO ACTION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9768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rPr dirty="0"/>
              <a:t>Choose small actions you can repeat—not a perfect plan you never start.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WEEK 1 — </a:t>
            </a:r>
            <a:r>
              <a:rPr lang="en-GB" dirty="0"/>
              <a:t>Take stock: Review and document your key skills, experiences and delivery proof points. </a:t>
            </a:r>
            <a:endParaRPr lang="en-GB"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WEEK 2 — </a:t>
            </a:r>
            <a:r>
              <a:rPr lang="en-GB" dirty="0"/>
              <a:t>Plan: Identify your desired career destination for the next 10 years, and gaps in skills, experience and delivery proof points to get there. Make a plan on how to close the gap. </a:t>
            </a:r>
            <a:endParaRPr lang="en-GB"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WEEK 3 — Relationships: contact two people in your field, ask thoughtful questions, and offer value where possible.</a:t>
            </a: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WEEK 4 — Money: track spending, set a realistic savings target, and learn the risks before investing.</a:t>
            </a:r>
            <a:endParaRPr dirty="0"/>
          </a:p>
          <a:p>
            <a:pPr marL="0" indent="0" algn="ctr">
              <a:spcBef>
                <a:spcPts val="800"/>
              </a:spcBef>
              <a:buNone/>
              <a:defRPr sz="1700" b="1"/>
            </a:pPr>
            <a:r>
              <a:rPr sz="1800" dirty="0"/>
              <a:t>Small, consistent actions compound into skills, credibility, and better options.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Recap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96086"/>
            <a:ext cx="9613861" cy="4529797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The paycheck is the floor, not the ceiling. Build equity in yourself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Build valuable skills. Combine technical proficiency, high-ROI skills with soft skills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Increase your earning power. Move from monthly thinking to value-based output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Build career capital. Skill, Experience, </a:t>
            </a:r>
            <a:r>
              <a:rPr lang="en-GB" altLang="en-US" dirty="0">
                <a:cs typeface="Times New Roman" panose="02020603050405020304" pitchFamily="18" charset="0"/>
              </a:rPr>
              <a:t>Delivery &amp; </a:t>
            </a:r>
            <a:r>
              <a:rPr lang="en-US" dirty="0">
                <a:cs typeface="Times New Roman" panose="02020603050405020304" pitchFamily="18" charset="0"/>
              </a:rPr>
              <a:t>Relationship capital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Creating career options. Consulting, entrepreneurship, </a:t>
            </a:r>
            <a:r>
              <a:rPr lang="en-GB" altLang="en-US" dirty="0">
                <a:cs typeface="Times New Roman" panose="02020603050405020304" pitchFamily="18" charset="0"/>
              </a:rPr>
              <a:t>networking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Positioning for the future. Start building options now, not when you need them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Manage your finances. Be financially literate.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altLang="en-US" sz="16600" dirty="0"/>
              <a:t>Q&amp;A</a:t>
            </a:r>
            <a:endParaRPr lang="en-GB" altLang="en-US" sz="16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7815" y="753228"/>
            <a:ext cx="6869723" cy="1080938"/>
          </a:xfrm>
        </p:spPr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ABOUT ME </a:t>
            </a:r>
            <a:endParaRPr lang="en-US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5384" y="1863474"/>
            <a:ext cx="6682154" cy="4843298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My name is </a:t>
            </a:r>
            <a:r>
              <a:rPr lang="en-US" sz="1600" b="1" dirty="0" err="1">
                <a:ea typeface="Roboto" panose="02000000000000000000"/>
                <a:cs typeface="Roboto" panose="02000000000000000000"/>
                <a:sym typeface="Roboto" panose="02000000000000000000"/>
              </a:rPr>
              <a:t>Odinakachi</a:t>
            </a:r>
            <a:r>
              <a:rPr 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 Umunna. I am an Engineer,  A </a:t>
            </a:r>
            <a:r>
              <a:rPr lang="en-GB" alt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L</a:t>
            </a:r>
            <a:r>
              <a:rPr 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eader,  A Mentor, and A Coach. </a:t>
            </a:r>
            <a:endParaRPr lang="en-US" sz="16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7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I wake up every day with a passion to get better at driving impact through the areas that matter most to me – Energy, Philanthropy and Leadership. </a:t>
            </a:r>
            <a:endParaRPr lang="en-US" sz="16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7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ea typeface="Roboto" panose="02000000000000000000"/>
                <a:cs typeface="Roboto" panose="02000000000000000000"/>
                <a:sym typeface="Roboto" panose="02000000000000000000"/>
              </a:rPr>
              <a:t>I thrive most when I unite people around a common vision, and inspire and enable them to find innovative solutions to deliver.</a:t>
            </a:r>
            <a:endParaRPr lang="en-US" sz="16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1600" b="1" dirty="0"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Connect with me:</a:t>
            </a:r>
            <a:endParaRPr lang="en-US" sz="1600" b="1" dirty="0">
              <a:solidFill>
                <a:schemeClr val="dk1"/>
              </a:solidFill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WhatsApp: </a:t>
            </a:r>
            <a:r>
              <a:rPr lang="en-US" sz="1600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+2348</a:t>
            </a:r>
            <a:r>
              <a:rPr lang="en-GB" altLang="en-US" sz="1600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057341877</a:t>
            </a:r>
            <a:endParaRPr lang="en-US" sz="1600" dirty="0">
              <a:solidFill>
                <a:schemeClr val="dk1"/>
              </a:solidFill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LinkedIn: </a:t>
            </a:r>
            <a:r>
              <a:rPr lang="en-US" sz="1600" dirty="0" err="1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Odinakachi</a:t>
            </a:r>
            <a:r>
              <a:rPr lang="en-US" sz="1600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 Umunna</a:t>
            </a:r>
            <a:endParaRPr lang="en-US" sz="1600" dirty="0">
              <a:solidFill>
                <a:schemeClr val="dk1"/>
              </a:solidFill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Email: </a:t>
            </a:r>
            <a:r>
              <a:rPr lang="en-US" sz="1600" dirty="0">
                <a:solidFill>
                  <a:schemeClr val="dk1"/>
                </a:solidFill>
                <a:ea typeface="Roboto" panose="02000000000000000000"/>
                <a:cs typeface="Roboto" panose="02000000000000000000"/>
                <a:sym typeface="Roboto" panose="02000000000000000000"/>
              </a:rPr>
              <a:t>umunnaodinakachi@gmail.com</a:t>
            </a:r>
            <a:endParaRPr lang="en-US" sz="1600" dirty="0">
              <a:solidFill>
                <a:schemeClr val="dk1"/>
              </a:solidFill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indent="0">
              <a:buNone/>
            </a:pPr>
            <a:endParaRPr lang="en-US" sz="1600" dirty="0">
              <a:solidFill>
                <a:schemeClr val="dk1"/>
              </a:solidFill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51" y="180536"/>
            <a:ext cx="4953879" cy="6677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{9583D2DA-AC67-4267-9271-F6A5364EB7E8}TFc986dd65-aaf0-4d5c-bef9-9c391ee05f7b792878d6-f8cb856a3a7f</Template>
  <TotalTime>0</TotalTime>
  <Words>5799</Words>
  <Application>WPS Presentation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Gill Sans MT</vt:lpstr>
      <vt:lpstr>Times New Roman</vt:lpstr>
      <vt:lpstr>Roboto</vt:lpstr>
      <vt:lpstr>Microsoft YaHei</vt:lpstr>
      <vt:lpstr>Arial Unicode MS</vt:lpstr>
      <vt:lpstr>Calibri</vt:lpstr>
      <vt:lpstr>Gallery</vt:lpstr>
      <vt:lpstr>BEYOND THE PAYCHECK </vt:lpstr>
      <vt:lpstr>WHAT DOES “BEYOND THE PAYCHECK” MEAN?</vt:lpstr>
      <vt:lpstr>AGENDA</vt:lpstr>
      <vt:lpstr>Building Valuable Skills</vt:lpstr>
      <vt:lpstr>Increasing Your Earning Power</vt:lpstr>
      <vt:lpstr>Building Career Capital </vt:lpstr>
      <vt:lpstr>Creating Career Options</vt:lpstr>
      <vt:lpstr>Positioning For The Future</vt:lpstr>
      <vt:lpstr>Bonus Point - MANAGING FINANCES</vt:lpstr>
      <vt:lpstr>YOUR NEXT 30 DAYS: TURN IDEAS INTO ACTION</vt:lpstr>
      <vt:lpstr>Recap </vt:lpstr>
      <vt:lpstr>PowerPoint 演示文稿</vt:lpstr>
      <vt:lpstr>ABOUT ME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prospect ndukauba</dc:creator>
  <cp:lastModifiedBy>Odinakachi Umunna</cp:lastModifiedBy>
  <cp:revision>25</cp:revision>
  <dcterms:created xsi:type="dcterms:W3CDTF">2026-10-10T00:00:00Z</dcterms:created>
  <dcterms:modified xsi:type="dcterms:W3CDTF">2026-10-14T20:44:52Z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AA75ED6D4D834DF9B1A066280BD60997_12</vt:lpwstr>
  </property>
  <property fmtid="{D5CDD505-2E9C-101B-9397-08002B2CF9AE}" pid="3" name="KSOProductBuildVer">
    <vt:lpwstr>1033-12.1.0.29162</vt:lpwstr>
  </property>
</Properties>
</file>